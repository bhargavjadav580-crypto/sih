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title and theme are taken from the user-provided organizer statement. Do not substitute unofficial themes. Team ID and exact portal spelling remain unconfirmed. The 2026 image is user-supplied, not independently verified as an approved event asset. AI-assisted preparation does not meet any wholly human-created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Federation involvement depends on affiliation, authorized scope and customer consent, not a fixed headcount threshold. Capacity is filtered by eligible skills and available time before ranking. A federation can contract or execute work where its own rules authorize it; this diagram is not a universal legal hierarchy or payment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frontend experiences: Household, Institution, Worker, Society, District and National. The current preview is one codebase with distinct routes and shared synthetic state; it is not six independently verified deployments. Separate origins need explicit schema-validated export/import. Browser role views are not secure authorization. Production integrations remain future work. Screenshots are actual local synthetic prototype screens, when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proposed, not achieved. No speculative cost estimate or legal-clearance claim is made. Confirm the society actually supplies the selected household/community skills. Cash disputes require reconciliation and cannot trigger duplicate digital charging. No-show allegations must remain unverified until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Benefits are hypotheses to evaluate in a pilot, not achieved impact. Workload-aware ranking alone does not prove fair allocations. Evaluate new-worker inclusion and avoid automatically ranking unrated workers last. Nearby matching may reduce travel, but the environmental effect must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invent live prototype links. The supplied https://labourlink-customer.netlify.app was previously observed only as a landing page, not an end-to-end verified booking flow. This generated preview is not a claim of six separately deployed apps. NLCF About (https://labcofed.in/about-nlcf/) supports training, research and advocacy but not a mandatory national payment chain. ILO freedom of association: https://www.ilo.org/topics-and-sectors/freedom-association. Approved 2026 branding, registered team details, confirmed PS portal URL and final app URLs require team confirmation. The source template requests portal submission as PDF; the user requested this working PPTX only. The seventh instructions slide has intentionally been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hyperlink" Target="https://www.cooperation.gov.in/en/national-cooperative-database" TargetMode="External"/><Relationship Id="rId5" Type="http://schemas.openxmlformats.org/officeDocument/2006/relationships/hyperlink" Target="https://labourfed.haryana.gov.in/about-us" TargetMode="External"/><Relationship Id="rId6" Type="http://schemas.openxmlformats.org/officeDocument/2006/relationships/hyperlink" Target="https://ica.coop/en/cooperatives/cooperative-identity" TargetMode="External"/><Relationship Id="rId7" Type="http://schemas.openxmlformats.org/officeDocument/2006/relationships/hyperlink" Target="https://eshram.gov.in/faqs" TargetMode="Externa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0700" y="1104900"/>
            <a:ext cx="19050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ih-2026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346" y="1143000"/>
            <a:ext cx="1734206" cy="83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79500" y="1219200"/>
            <a:ext cx="69596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9200" y="1257300"/>
            <a:ext cx="6731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34E81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3149600"/>
            <a:ext cx="440690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5000" y="6210300"/>
            <a:ext cx="368300" cy="59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300" y="3225800"/>
            <a:ext cx="41402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34E81"/>
                </a:solidFill>
                <a:latin typeface="Arial"/>
              </a:defRPr>
            </a:pPr>
            <a:r>
              <a:t>PROBLEM STATEMENT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300" y="341630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63634"/>
                </a:solidFill>
                <a:latin typeface="Arial"/>
              </a:defRPr>
            </a:pPr>
            <a:r>
              <a:t>26089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00" y="3822700"/>
            <a:ext cx="41402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34E81"/>
                </a:solidFill>
                <a:latin typeface="Arial"/>
              </a:defRPr>
            </a:pPr>
            <a:r>
              <a:t>PROBLEM STATEMENT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300" y="401320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40" b="1">
                <a:solidFill>
                  <a:srgbClr val="263634"/>
                </a:solidFill>
                <a:latin typeface="Arial"/>
              </a:defRPr>
            </a:pPr>
            <a:r>
              <a:t>Cooperative Gig Services Platform for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40" b="1">
                <a:solidFill>
                  <a:srgbClr val="263634"/>
                </a:solidFill>
                <a:latin typeface="Arial"/>
              </a:defRPr>
            </a:pPr>
            <a:r>
              <a:t>Household &amp; Community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00" y="4597400"/>
            <a:ext cx="41402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34E81"/>
                </a:solidFill>
                <a:latin typeface="Arial"/>
              </a:defRPr>
            </a:pPr>
            <a:r>
              <a:t>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478790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40" b="1">
                <a:solidFill>
                  <a:srgbClr val="263634"/>
                </a:solidFill>
                <a:latin typeface="Arial"/>
              </a:defRPr>
            </a:pPr>
            <a:r>
              <a:t>Agriculture, FoodTech &amp; Rural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300" y="5207000"/>
            <a:ext cx="41402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34E81"/>
                </a:solidFill>
                <a:latin typeface="Arial"/>
              </a:defRPr>
            </a:pPr>
            <a:r>
              <a:t>PS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300" y="539750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63634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300" y="5778500"/>
            <a:ext cx="41402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34E81"/>
                </a:solidFill>
                <a:latin typeface="Arial"/>
              </a:defRPr>
            </a:pPr>
            <a:r>
              <a:t>TEAM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" y="596900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63634"/>
                </a:solidFill>
                <a:latin typeface="Arial"/>
              </a:defRPr>
            </a:pPr>
            <a:r>
              <a:t>[REGISTERED TEAM ID]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300" y="6375400"/>
            <a:ext cx="41402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34E81"/>
                </a:solidFill>
                <a:latin typeface="Arial"/>
              </a:defRPr>
            </a:pPr>
            <a:r>
              <a:t>TEAM NAME (REGISTERED ON PORTAL)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300" y="656590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63634"/>
                </a:solidFill>
                <a:latin typeface="Arial"/>
              </a:defRPr>
            </a:pPr>
            <a:r>
              <a:t>LABOURLINK [confirm portal spelling]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7061200"/>
            <a:ext cx="9144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B6E4F"/>
                </a:solidFill>
                <a:latin typeface="Arial"/>
              </a:defRPr>
            </a:pPr>
            <a:r>
              <a:t>Connecting Communities with Verified Cooperative Workers.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7353300"/>
            <a:ext cx="9207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756E"/>
                </a:solidFill>
                <a:latin typeface="Arial"/>
              </a:defRPr>
            </a:pPr>
            <a:r>
              <a:t>User-supplied 2026 branding · official approval and team details require confirmation.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0700" y="1104900"/>
            <a:ext cx="19050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ih-2026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346" y="1143000"/>
            <a:ext cx="1734206" cy="83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900" y="1206500"/>
            <a:ext cx="1143000" cy="774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700" y="1270000"/>
            <a:ext cx="1041400" cy="6604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8060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600" y="1447800"/>
            <a:ext cx="863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63634"/>
                </a:solidFill>
                <a:latin typeface="Arial"/>
              </a:defRPr>
            </a:pPr>
            <a:r>
              <a:t>LABOURLINK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40000"/>
            <a:ext cx="10058400" cy="37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2200" y="21463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B6E4F"/>
                </a:solidFill>
                <a:latin typeface="Arial"/>
              </a:defRPr>
            </a:pPr>
            <a:r>
              <a:t>LABOURLINK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300" y="2832100"/>
            <a:ext cx="9461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34E81"/>
                </a:solidFill>
                <a:latin typeface="Arial"/>
              </a:defRPr>
            </a:pPr>
            <a:r>
              <a:t>Proposed Solution (Describe your Idea/Solution/Prototype)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00" y="3340100"/>
            <a:ext cx="5588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Detailed explanation of the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00" y="36068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606800"/>
            <a:ext cx="51689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Societies import, verify and manage their worker rosters.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700" y="38481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848100"/>
            <a:ext cx="51689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Households book services; institutions request multiple workers.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700" y="40894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089400"/>
            <a:ext cx="51689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Workers review terms, accept work and track earnings.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" y="4445000"/>
            <a:ext cx="5461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How it addresses 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00" y="4699000"/>
            <a:ext cx="5334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Society records → verified profiles → suitable matches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→ completed services → transparent settlement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300" y="5194300"/>
            <a:ext cx="5461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Innovation and uniqueness of the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700" y="54483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448300"/>
            <a:ext cx="51689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63634"/>
                </a:solidFill>
                <a:latin typeface="Arial"/>
              </a:defRPr>
            </a:pPr>
            <a:r>
              <a:t>Society-controlled verification and approved policies.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700" y="56642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664200"/>
            <a:ext cx="51689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63634"/>
                </a:solidFill>
                <a:latin typeface="Arial"/>
              </a:defRPr>
            </a:pPr>
            <a:r>
              <a:t>Separate payment, earning and settlement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700" y="58801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880100"/>
            <a:ext cx="51689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63634"/>
                </a:solidFill>
                <a:latin typeface="Arial"/>
              </a:defRPr>
            </a:pPr>
            <a:r>
              <a:t>Capacity-aware coordination across participating societies.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2900" y="3365500"/>
            <a:ext cx="2336800" cy="393700"/>
          </a:xfrm>
          <a:prstGeom prst="roundRect">
            <a:avLst/>
          </a:prstGeom>
          <a:solidFill>
            <a:srgbClr val="EDF3F7"/>
          </a:solidFill>
          <a:ln w="8890">
            <a:solidFill>
              <a:srgbClr val="C9D8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6400" y="3441700"/>
            <a:ext cx="2209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234E81"/>
                </a:solidFill>
                <a:latin typeface="Arial"/>
              </a:defRPr>
            </a:pPr>
            <a:r>
              <a:t>Customer requirement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1300" y="3759200"/>
            <a:ext cx="0" cy="177800"/>
          </a:xfrm>
          <a:prstGeom prst="line">
            <a:avLst/>
          </a:prstGeom>
          <a:ln w="15875">
            <a:solidFill>
              <a:srgbClr val="527D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97800" y="37592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34E81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2900" y="3962400"/>
            <a:ext cx="2336800" cy="393700"/>
          </a:xfrm>
          <a:prstGeom prst="roundRect">
            <a:avLst/>
          </a:prstGeom>
          <a:solidFill>
            <a:srgbClr val="EDF3F7"/>
          </a:solidFill>
          <a:ln w="8890">
            <a:solidFill>
              <a:srgbClr val="C9D8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6400" y="4038600"/>
            <a:ext cx="2209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234E81"/>
                </a:solidFill>
                <a:latin typeface="Arial"/>
              </a:defRPr>
            </a:pPr>
            <a:r>
              <a:t>Chosen / suitable society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61300" y="4356100"/>
            <a:ext cx="0" cy="152400"/>
          </a:xfrm>
          <a:prstGeom prst="line">
            <a:avLst/>
          </a:prstGeom>
          <a:ln w="15875">
            <a:solidFill>
              <a:srgbClr val="527D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78600" y="4508500"/>
            <a:ext cx="2540000" cy="0"/>
          </a:xfrm>
          <a:prstGeom prst="line">
            <a:avLst/>
          </a:prstGeom>
          <a:ln w="15875">
            <a:solidFill>
              <a:srgbClr val="527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78600" y="4508500"/>
            <a:ext cx="0" cy="165100"/>
          </a:xfrm>
          <a:prstGeom prst="line">
            <a:avLst/>
          </a:prstGeom>
          <a:ln w="15875">
            <a:solidFill>
              <a:srgbClr val="527D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18600" y="4508500"/>
            <a:ext cx="0" cy="165100"/>
          </a:xfrm>
          <a:prstGeom prst="line">
            <a:avLst/>
          </a:prstGeom>
          <a:ln w="15875">
            <a:solidFill>
              <a:srgbClr val="527D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18200" y="4686300"/>
            <a:ext cx="1587500" cy="406400"/>
          </a:xfrm>
          <a:prstGeom prst="roundRect">
            <a:avLst/>
          </a:prstGeom>
          <a:solidFill>
            <a:srgbClr val="EDF3F7"/>
          </a:solidFill>
          <a:ln w="8890">
            <a:solidFill>
              <a:srgbClr val="C9D8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1700" y="4762500"/>
            <a:ext cx="1460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60" b="1">
                <a:solidFill>
                  <a:srgbClr val="234E81"/>
                </a:solidFill>
                <a:latin typeface="Arial"/>
              </a:defRPr>
            </a:pPr>
            <a:r>
              <a:t>Capacity available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4686300"/>
            <a:ext cx="1689100" cy="406400"/>
          </a:xfrm>
          <a:prstGeom prst="roundRect">
            <a:avLst/>
          </a:prstGeom>
          <a:solidFill>
            <a:srgbClr val="EDF3F7"/>
          </a:solidFill>
          <a:ln w="8890">
            <a:solidFill>
              <a:srgbClr val="C9D8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4500" y="4762500"/>
            <a:ext cx="15621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60" b="1">
                <a:solidFill>
                  <a:srgbClr val="234E81"/>
                </a:solidFill>
                <a:latin typeface="Arial"/>
              </a:defRPr>
            </a:pPr>
            <a:r>
              <a:t>Shortfall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05600" y="5092700"/>
            <a:ext cx="0" cy="177800"/>
          </a:xfrm>
          <a:prstGeom prst="line">
            <a:avLst/>
          </a:prstGeom>
          <a:ln w="15875">
            <a:solidFill>
              <a:srgbClr val="527D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39200" y="5092700"/>
            <a:ext cx="0" cy="177800"/>
          </a:xfrm>
          <a:prstGeom prst="line">
            <a:avLst/>
          </a:prstGeom>
          <a:ln w="15875">
            <a:solidFill>
              <a:srgbClr val="527D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918200" y="5295900"/>
            <a:ext cx="1587500" cy="584200"/>
          </a:xfrm>
          <a:prstGeom prst="roundRect">
            <a:avLst/>
          </a:prstGeom>
          <a:solidFill>
            <a:srgbClr val="EEF4EA"/>
          </a:solidFill>
          <a:ln w="8890">
            <a:solidFill>
              <a:srgbClr val="C9D8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1700" y="5372100"/>
            <a:ext cx="1460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80" b="1">
                <a:solidFill>
                  <a:srgbClr val="234E81"/>
                </a:solidFill>
                <a:latin typeface="Arial"/>
              </a:defRPr>
            </a:pPr>
            <a:r>
              <a:t>Worker offers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80" b="1">
                <a:solidFill>
                  <a:srgbClr val="234E81"/>
                </a:solidFill>
                <a:latin typeface="Arial"/>
              </a:defRPr>
            </a:pPr>
            <a:r>
              <a:t>→ acceptance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5295900"/>
            <a:ext cx="1689100" cy="584200"/>
          </a:xfrm>
          <a:prstGeom prst="roundRect">
            <a:avLst/>
          </a:prstGeom>
          <a:solidFill>
            <a:srgbClr val="EDF3F7"/>
          </a:solidFill>
          <a:ln w="8890">
            <a:solidFill>
              <a:srgbClr val="C9D8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4500" y="5372100"/>
            <a:ext cx="15621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34E81"/>
                </a:solidFill>
                <a:latin typeface="Arial"/>
              </a:defRPr>
            </a:pPr>
            <a:r>
              <a:t>Authorized federation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34E81"/>
                </a:solidFill>
                <a:latin typeface="Arial"/>
              </a:defRPr>
            </a:pPr>
            <a:r>
              <a:t>→ other societies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8200" y="59817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756E"/>
                </a:solidFill>
                <a:latin typeface="Arial"/>
              </a:defRPr>
            </a:pPr>
            <a:r>
              <a:t>Affiliation + authority; no mandatory middleman.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0700" y="1104900"/>
            <a:ext cx="19050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ih-2026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346" y="1143000"/>
            <a:ext cx="1734206" cy="83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900" y="1206500"/>
            <a:ext cx="1143000" cy="774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700" y="1270000"/>
            <a:ext cx="1041400" cy="6604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8060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600" y="1447800"/>
            <a:ext cx="863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63634"/>
                </a:solidFill>
                <a:latin typeface="Arial"/>
              </a:defRPr>
            </a:pPr>
            <a:r>
              <a:t>LABOURLINK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40000"/>
            <a:ext cx="10058400" cy="37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700" y="2298700"/>
            <a:ext cx="927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Six experiences: Household · Institution · Worker · Society · District · National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700" y="2692400"/>
            <a:ext cx="4495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34E81"/>
                </a:solidFill>
                <a:latin typeface="Arial"/>
              </a:defRPr>
            </a:pPr>
            <a:r>
              <a:t>Technologies to be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700" y="29464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40" b="0">
                <a:solidFill>
                  <a:srgbClr val="66756E"/>
                </a:solidFill>
                <a:latin typeface="Arial"/>
              </a:defRPr>
            </a:pPr>
            <a:r>
              <a:t>(programming languages, frameworks, hardware)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00" y="32258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225800"/>
            <a:ext cx="4267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Frontend: React + TypeScript; EN / HI / GU.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700" y="35052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505200"/>
            <a:ext cx="4267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Planned backend: FastAPI.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700" y="37846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784600"/>
            <a:ext cx="4267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Planned database: MongoDB + geospatial indexing.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700" y="40640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064000"/>
            <a:ext cx="4267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Future authorized providers: payments, OTP, maps, voice, welfare.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300" y="2692400"/>
            <a:ext cx="4368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Methodology and process for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300" y="2959100"/>
            <a:ext cx="4368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40" b="0">
                <a:solidFill>
                  <a:srgbClr val="66756E"/>
                </a:solidFill>
                <a:latin typeface="Arial"/>
              </a:defRPr>
            </a:pPr>
            <a:r>
              <a:t>(Flow Charts/Images/ working prototype)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300" y="3225800"/>
            <a:ext cx="4368800" cy="54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63634"/>
                </a:solidFill>
                <a:latin typeface="Arial"/>
              </a:defRPr>
            </a:pPr>
            <a:r>
              <a:t>Import → verify → match → book → accept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63634"/>
                </a:solidFill>
                <a:latin typeface="Arial"/>
              </a:defRPr>
            </a:pPr>
            <a:r>
              <a:t>→ complete → record payment → reconcile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300" y="3822700"/>
            <a:ext cx="43688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263634"/>
                </a:solidFill>
                <a:latin typeface="Arial"/>
              </a:defRPr>
            </a:pPr>
            <a:r>
              <a:t>Matching: skill + availability first; then distance, experience, rating and workload.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300" y="4254500"/>
            <a:ext cx="43688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263634"/>
                </a:solidFill>
                <a:latin typeface="Arial"/>
              </a:defRPr>
            </a:pPr>
            <a:r>
              <a:t>Forecast: history → demand baseline → capacity gap → admin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700" y="4724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234E81"/>
                </a:solidFill>
                <a:latin typeface="Arial"/>
              </a:defRPr>
            </a:pPr>
            <a:r>
              <a:t>Worker verification · synthetic prototype</a:t>
            </a:r>
          </a:p>
        </p:txBody>
      </p:sp>
      <p:pic>
        <p:nvPicPr>
          <p:cNvPr id="26" name="Picture 25" descr="verification-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13" y="4965700"/>
            <a:ext cx="4145972" cy="800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07000" y="4724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234E81"/>
                </a:solidFill>
                <a:latin typeface="Arial"/>
              </a:defRPr>
            </a:pPr>
            <a:r>
              <a:t>Separate settlement ledger · synthetic prototype</a:t>
            </a:r>
          </a:p>
        </p:txBody>
      </p:sp>
      <p:pic>
        <p:nvPicPr>
          <p:cNvPr id="28" name="Picture 27" descr="settlement-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36" y="4965700"/>
            <a:ext cx="4425727" cy="8001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0200" y="5880100"/>
            <a:ext cx="9398000" cy="330200"/>
          </a:xfrm>
          <a:prstGeom prst="rect">
            <a:avLst/>
          </a:prstGeom>
          <a:solidFill>
            <a:srgbClr val="EAF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500" y="5943600"/>
            <a:ext cx="91694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80" b="1">
                <a:solidFill>
                  <a:srgbClr val="234E81"/>
                </a:solidFill>
                <a:latin typeface="Arial"/>
              </a:defRPr>
            </a:pPr>
            <a:r>
              <a:t>Prototype scope: synthetic data and simulated handoffs. No live payment, government-data connection, backend or production AI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0700" y="1104900"/>
            <a:ext cx="19050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ih-2026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346" y="1143000"/>
            <a:ext cx="1734206" cy="83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900" y="1206500"/>
            <a:ext cx="1143000" cy="774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700" y="1270000"/>
            <a:ext cx="1041400" cy="6604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8060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600" y="1447800"/>
            <a:ext cx="863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63634"/>
                </a:solidFill>
                <a:latin typeface="Arial"/>
              </a:defRPr>
            </a:pPr>
            <a:r>
              <a:t>LABOURLINK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40000"/>
            <a:ext cx="10058400" cy="37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700" y="2679700"/>
            <a:ext cx="9271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34E81"/>
                </a:solidFill>
                <a:latin typeface="Arial"/>
              </a:defRPr>
            </a:pPr>
            <a:r>
              <a:t>Analysis of the feasibility of 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700" y="29972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997200"/>
            <a:ext cx="9093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63634"/>
                </a:solidFill>
                <a:latin typeface="Arial"/>
              </a:defRPr>
            </a:pPr>
            <a:r>
              <a:t>Start with participating societies’ own records—not assumed government worker-data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00" y="32766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276600"/>
            <a:ext cx="9093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63634"/>
                </a:solidFill>
                <a:latin typeface="Arial"/>
              </a:defRPr>
            </a:pPr>
            <a:r>
              <a:t>Begin with one society and selected household/community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700" y="3556000"/>
            <a:ext cx="114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556000"/>
            <a:ext cx="9093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63634"/>
                </a:solidFill>
                <a:latin typeface="Arial"/>
              </a:defRPr>
            </a:pPr>
            <a:r>
              <a:t>Agree cooperative operating charges; do not assume a universal commission.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700" y="3949700"/>
            <a:ext cx="4254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234E81"/>
                </a:solidFill>
                <a:latin typeface="Arial"/>
              </a:defRPr>
            </a:pPr>
            <a:r>
              <a:t>Potential challenges and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0300" y="3949700"/>
            <a:ext cx="4724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234E81"/>
                </a:solidFill>
                <a:latin typeface="Arial"/>
              </a:defRPr>
            </a:pPr>
            <a:r>
              <a:t>Strategies for overcoming these challenges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000" y="4279900"/>
            <a:ext cx="9283700" cy="3175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700" y="43561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Incomplete worker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700" y="4356100"/>
            <a:ext cx="4546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Validated imports, review queue, verification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4610100"/>
            <a:ext cx="9283700" cy="317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700" y="46863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Language / digital-literacy barriers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700" y="4686300"/>
            <a:ext cx="4546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Simple multilingual screens and assisted onboarding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00" y="4940300"/>
            <a:ext cx="9283700" cy="3175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700" y="50165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Overbooking / bulk shortfalls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700" y="5016500"/>
            <a:ext cx="4546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Time checks, reservations, partial-fulfilment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5270500"/>
            <a:ext cx="9283700" cy="3175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700" y="53467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Cash, no-shows, payment disputes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700" y="5346700"/>
            <a:ext cx="4546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Separate ledgers, evidence trail, society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400" y="5715000"/>
            <a:ext cx="9271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70" b="1">
                <a:solidFill>
                  <a:srgbClr val="234E81"/>
                </a:solidFill>
                <a:latin typeface="Arial"/>
              </a:defRPr>
            </a:pPr>
            <a:r>
              <a:t>PROPOSED PILOT — NOT ACHIEVED: 1 society · 100 workers · 300 requests · target ≥90% completion.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400" y="6007100"/>
            <a:ext cx="92456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60" b="0">
                <a:solidFill>
                  <a:srgbClr val="66756E"/>
                </a:solidFill>
                <a:latin typeface="Arial"/>
              </a:defRPr>
            </a:pPr>
            <a:r>
              <a:t>Production gate: governance, worker terms, pricing, legal obligations, data consent and provider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0700" y="1104900"/>
            <a:ext cx="19050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ih-2026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346" y="1143000"/>
            <a:ext cx="1734206" cy="83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900" y="1206500"/>
            <a:ext cx="1143000" cy="774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700" y="1270000"/>
            <a:ext cx="1041400" cy="6604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8060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600" y="1447800"/>
            <a:ext cx="863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63634"/>
                </a:solidFill>
                <a:latin typeface="Arial"/>
              </a:defRPr>
            </a:pPr>
            <a:r>
              <a:t>LABOURLINK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40000"/>
            <a:ext cx="10058400" cy="37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700" y="2679700"/>
            <a:ext cx="9271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34E81"/>
                </a:solidFill>
                <a:latin typeface="Arial"/>
              </a:defRPr>
            </a:pPr>
            <a:r>
              <a:t>Potential impact on the target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700" y="3035300"/>
            <a:ext cx="4406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700" y="3276600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Clearer terms, visible earnings, skill records and welfare guidance.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7000" y="3035300"/>
            <a:ext cx="4406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7000" y="3276600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Discoverable cooperative workers, price visibility and traceable complaints.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700" y="3759200"/>
            <a:ext cx="4406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Societies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700" y="4000500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Organized rosters, allocation tools and settlement visibility.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000" y="3759200"/>
            <a:ext cx="4406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Federations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7000" y="4000500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263634"/>
                </a:solidFill>
                <a:latin typeface="Arial"/>
              </a:defRPr>
            </a:pPr>
            <a:r>
              <a:t>Authorized capacity and skill-gap summaries—not control over every job.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700" y="4559300"/>
            <a:ext cx="9271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Benefits of the solution (social, economic, environmental, etc.)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700" y="4851400"/>
            <a:ext cx="444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80" b="0">
                <a:solidFill>
                  <a:srgbClr val="263634"/>
                </a:solidFill>
                <a:latin typeface="Arial"/>
              </a:defRPr>
            </a:pPr>
            <a:r>
              <a:t>Social: accessible, accountable participation.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700" y="51435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80" b="0">
                <a:solidFill>
                  <a:srgbClr val="263634"/>
                </a:solidFill>
                <a:latin typeface="Arial"/>
              </a:defRPr>
            </a:pPr>
            <a:r>
              <a:t>Economic: aim for less idle time and clearer payments.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48514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80" b="0">
                <a:solidFill>
                  <a:srgbClr val="263634"/>
                </a:solidFill>
                <a:latin typeface="Arial"/>
              </a:defRPr>
            </a:pPr>
            <a:r>
              <a:t>Environmental: test travel savings from nearby matching.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7000" y="51435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80" b="0">
                <a:solidFill>
                  <a:srgbClr val="263634"/>
                </a:solidFill>
                <a:latin typeface="Arial"/>
              </a:defRPr>
            </a:pPr>
            <a:r>
              <a:t>Governance: documented, approved cooperative decisions.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5524500"/>
            <a:ext cx="9283700" cy="393700"/>
          </a:xfrm>
          <a:prstGeom prst="rect">
            <a:avLst/>
          </a:prstGeom>
          <a:solidFill>
            <a:srgbClr val="EF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000" y="5575300"/>
            <a:ext cx="90297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80" b="1">
                <a:solidFill>
                  <a:srgbClr val="234E81"/>
                </a:solidFill>
                <a:latin typeface="Arial"/>
              </a:defRPr>
            </a:pPr>
            <a:r>
              <a:t>MEASURE: completion · utilization · assignment time · settlement delays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80" b="1">
                <a:solidFill>
                  <a:srgbClr val="234E81"/>
                </a:solidFill>
                <a:latin typeface="Arial"/>
              </a:defRPr>
            </a:pPr>
            <a:r>
              <a:t>complaint resolution · worker net earnings after reported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700" y="6032500"/>
            <a:ext cx="927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B6E4F"/>
                </a:solidFill>
                <a:latin typeface="Arial"/>
              </a:defRPr>
            </a:pPr>
            <a:r>
              <a:t>Digitize the workforce. Keep the cooperative in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40700" y="1104900"/>
            <a:ext cx="19050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ih-2026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346" y="1143000"/>
            <a:ext cx="1734206" cy="83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900" y="1206500"/>
            <a:ext cx="1143000" cy="774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700" y="1270000"/>
            <a:ext cx="1041400" cy="6604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8060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600" y="1447800"/>
            <a:ext cx="863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263634"/>
                </a:solidFill>
                <a:latin typeface="Arial"/>
              </a:defRPr>
            </a:pPr>
            <a:r>
              <a:t>LABOURLINK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540000"/>
            <a:ext cx="10058400" cy="37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700" y="2743200"/>
            <a:ext cx="9271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34E81"/>
                </a:solidFill>
                <a:latin typeface="Arial"/>
              </a:defRPr>
            </a:pPr>
            <a:r>
              <a:t>Details / Links of the reference and research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3200400"/>
            <a:ext cx="3175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900" y="3200400"/>
            <a:ext cx="87249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t>SIH PS 26089 — organizer-provided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3429000"/>
            <a:ext cx="872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6756E"/>
                </a:solidFill>
                <a:latin typeface="Arial"/>
              </a:defRPr>
            </a:pPr>
            <a:r>
              <a:t>Confirmed portal URL required; title and theme supplied by the team.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3670300"/>
            <a:ext cx="3175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3670300"/>
            <a:ext cx="87249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rPr u="sng">
                <a:hlinkClick r:id="rId4"/>
              </a:rPr>
              <a:t>Ministry of Cooperation — National Cooperative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3898900"/>
            <a:ext cx="872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6756E"/>
                </a:solidFill>
                <a:latin typeface="Arial"/>
              </a:defRPr>
            </a:pPr>
            <a:r>
              <a:t>Society information and ecosystem planning; not a worker roster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" y="4140200"/>
            <a:ext cx="3175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0" y="4140200"/>
            <a:ext cx="87249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rPr u="sng">
                <a:hlinkClick r:id="rId5"/>
              </a:rPr>
              <a:t>Haryana Labourfed — About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0" y="4368800"/>
            <a:ext cx="872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6756E"/>
                </a:solidFill>
                <a:latin typeface="Arial"/>
              </a:defRPr>
            </a:pPr>
            <a:r>
              <a:t>Documented society/district/state example—not a universal hierarchy.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" y="4610100"/>
            <a:ext cx="3175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900" y="4610100"/>
            <a:ext cx="87249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rPr u="sng">
                <a:hlinkClick r:id="rId6"/>
              </a:rPr>
              <a:t>International Cooperative Alliance — Cooperative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900" y="4838700"/>
            <a:ext cx="872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6756E"/>
                </a:solidFill>
                <a:latin typeface="Arial"/>
              </a:defRPr>
            </a:pPr>
            <a:r>
              <a:t>Member ownership, democratic control and autonomy.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" y="5080000"/>
            <a:ext cx="3175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34E8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900" y="5080000"/>
            <a:ext cx="87249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34E81"/>
                </a:solidFill>
                <a:latin typeface="Arial"/>
              </a:defRPr>
            </a:pPr>
            <a:r>
              <a:rPr u="sng">
                <a:hlinkClick r:id="rId7"/>
              </a:rPr>
              <a:t>e-Shram — Official FAQs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900" y="5308600"/>
            <a:ext cx="872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6756E"/>
                </a:solidFill>
                <a:latin typeface="Arial"/>
              </a:defRPr>
            </a:pPr>
            <a:r>
              <a:t>Registration and welfare facilitation; scheme eligibility remains separate.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700" y="5676900"/>
            <a:ext cx="9271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34E81"/>
                </a:solidFill>
                <a:latin typeface="Arial"/>
              </a:defRPr>
            </a:pPr>
            <a:r>
              <a:t>Prototype links — URLs pending; add verified links before 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700" y="6007100"/>
            <a:ext cx="149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63634"/>
                </a:solidFill>
                <a:latin typeface="Arial"/>
              </a:defRPr>
            </a:pPr>
            <a:r>
              <a:t>Household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8500" y="6007100"/>
            <a:ext cx="149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63634"/>
                </a:solidFill>
                <a:latin typeface="Arial"/>
              </a:defRPr>
            </a:pPr>
            <a:r>
              <a:t>Institution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3300" y="6007100"/>
            <a:ext cx="149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63634"/>
                </a:solidFill>
                <a:latin typeface="Arial"/>
              </a:defRPr>
            </a:pPr>
            <a:r>
              <a:t>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8100" y="6007100"/>
            <a:ext cx="149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63634"/>
                </a:solidFill>
                <a:latin typeface="Arial"/>
              </a:defRPr>
            </a:pPr>
            <a:r>
              <a:t>Society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2900" y="6007100"/>
            <a:ext cx="149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63634"/>
                </a:solidFill>
                <a:latin typeface="Arial"/>
              </a:defRPr>
            </a:pPr>
            <a:r>
              <a:t>District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7700" y="6007100"/>
            <a:ext cx="149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263634"/>
                </a:solidFill>
                <a:latin typeface="Arial"/>
              </a:defRPr>
            </a:pPr>
            <a:r>
              <a:t>National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LABOURLINK — Cooperative Gig Services Platform</dc:title>
  <dc:subject>SIH PS 26089 · six-slide synthetic-prototype presentation</dc:subject>
  <dc:creator>LABOURLINK team · AI-assisted preparation</dc:creator>
  <cp:keywords/>
  <dc:description>PDF template recreated at 792 × 612 pt. Team registration and official branding approval require confirmation.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